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79FDBA-535E-4744-AC25-D130A94CBE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3B8F4A-46E2-4679-BBA0-5A1087221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933684-36CE-4E8D-A43B-59993ACF3B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A6A6AD-1F50-427D-AA2A-914226A297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A1AAA-0AC0-4B62-8BA5-A555903D4E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59EB5-4B6F-4B5D-807C-7B3B02EDCE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5457B1-FC1A-40AA-9566-2D62F0F01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669A7B-A016-4A86-82E1-D60E7C13D2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6F64F6-E15C-4525-A770-95A98537F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CCC38F-85AD-423C-8FA5-CAB0F43C91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65B96-4BC6-42BA-9EC7-92F09E9A1B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4556C7-21AC-4D00-9437-9A75E56FDB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CEBD4-DAD4-4BE8-8E07-B038F82C30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640080" y="1554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AGENTIC CODING  ·  PART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40080" y="192024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Building the Harness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58440" y="34290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The agent writes the code. You build the system that makes it good.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640080" y="4709160"/>
            <a:ext cx="4754520" cy="685440"/>
          </a:xfrm>
          <a:prstGeom prst="roundRect">
            <a:avLst>
              <a:gd name="adj" fmla="val 1333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822960" y="470916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agent</a:t>
            </a:r>
            <a:r>
              <a:rPr lang="en-US" sz="1800" b="0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8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model</a:t>
            </a:r>
            <a:r>
              <a:rPr lang="en-US" sz="1800" b="0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 + </a:t>
            </a: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harness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THE ONE IDEA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Don’t change the model.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Build the harness.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640080" y="2743200"/>
            <a:ext cx="5028840" cy="2102760"/>
          </a:xfrm>
          <a:prstGeom prst="roundRect">
            <a:avLst>
              <a:gd name="adj" fmla="val 3478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640080" y="2743200"/>
            <a:ext cx="63720" cy="2102760"/>
          </a:xfrm>
          <a:prstGeom prst="roundRect">
            <a:avLst>
              <a:gd name="adj" fmla="val 42857"/>
            </a:avLst>
          </a:prstGeom>
          <a:solidFill>
            <a:srgbClr val="93a1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868680" y="2971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201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MODEL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868680" y="347472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Fixed. Picked for you. The same one everyone else has.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715000" y="2743200"/>
            <a:ext cx="776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4ade80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537960" y="2743200"/>
            <a:ext cx="4983120" cy="2102760"/>
          </a:xfrm>
          <a:prstGeom prst="roundRect">
            <a:avLst>
              <a:gd name="adj" fmla="val 3478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537960" y="2743200"/>
            <a:ext cx="63720" cy="210276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6766560" y="2971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HARNESS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766560" y="347472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Yours. The context, rules, and checks around the model. The part you control.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40080" y="521208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A decent model with a great harness beats a great model with a bad one.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WHY IT MATTERS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640080" y="219456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52.8%</a:t>
            </a:r>
            <a:r>
              <a:rPr lang="en-US" sz="7200" b="1" u="none" strike="noStrike">
                <a:solidFill>
                  <a:srgbClr val="4ade80"/>
                </a:solidFill>
                <a:effectLst/>
                <a:uFillTx/>
                <a:latin typeface="Calibri"/>
                <a:ea typeface="Calibri"/>
              </a:rPr>
              <a:t>  →  66.5%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658440" y="3749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Same model. Better harness.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58440" y="434340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One coding agent jumped from Top 30 to Top 5 on Terminal-Bench. They changed nothing about the model. Only the harness around it.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WHAT A HARNESS DOES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Four jobs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640080" y="2286000"/>
            <a:ext cx="5303160" cy="1782720"/>
          </a:xfrm>
          <a:prstGeom prst="roundRect">
            <a:avLst>
              <a:gd name="adj" fmla="val 410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640080" y="2286000"/>
            <a:ext cx="63720" cy="178272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14400" y="2487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INFORM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914400" y="290772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Tell the agent what to build and how.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914400" y="35845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AGENTS.md, spec/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6309360" y="2286000"/>
            <a:ext cx="5303160" cy="1782720"/>
          </a:xfrm>
          <a:prstGeom prst="roundRect">
            <a:avLst>
              <a:gd name="adj" fmla="val 410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6309360" y="2286000"/>
            <a:ext cx="63720" cy="178272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6583680" y="2487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CONSTRAIN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6583680" y="290772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Fence it into good patterns.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583680" y="35845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lint rules, conventions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40080" y="4389120"/>
            <a:ext cx="5303160" cy="1782720"/>
          </a:xfrm>
          <a:prstGeom prst="roundRect">
            <a:avLst>
              <a:gd name="adj" fmla="val 410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640080" y="4389120"/>
            <a:ext cx="63720" cy="178272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914400" y="45903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VERIFY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914400" y="501084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Prove the output actually works.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914400" y="56876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unit + e2e tests, CI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6309360" y="4389120"/>
            <a:ext cx="5303160" cy="1782720"/>
          </a:xfrm>
          <a:prstGeom prst="roundRect">
            <a:avLst>
              <a:gd name="adj" fmla="val 410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6309360" y="4389120"/>
            <a:ext cx="63720" cy="178272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6583680" y="45903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CORRECT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6583680" y="501084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Make broken code fail fast.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6583680" y="56876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pre-commit hook, blocking CI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THE CORE MOVE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Telling a rule is not enforcing a rule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640080" y="2468880"/>
            <a:ext cx="5257440" cy="2377080"/>
          </a:xfrm>
          <a:prstGeom prst="roundRect">
            <a:avLst>
              <a:gd name="adj" fmla="val 3077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640080" y="2468880"/>
            <a:ext cx="63720" cy="237708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914400" y="26974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TELLING  ·  hope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914400" y="3246120"/>
            <a:ext cx="4708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"Please follow our standards."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914400" y="402336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A line in a prompt. The agent complies if it feels like it.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6263640" y="2468880"/>
            <a:ext cx="5257440" cy="2377080"/>
          </a:xfrm>
          <a:prstGeom prst="roundRect">
            <a:avLst>
              <a:gd name="adj" fmla="val 3077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6263640" y="2468880"/>
            <a:ext cx="63720" cy="23770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6537960" y="26974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ENFORCING  ·  certainty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6537960" y="3246120"/>
            <a:ext cx="4708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A linter in a commit hook that blocks the commit.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6537960" y="402336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Broken code can't land whether the agent cooperates or not.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640080" y="52120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Lean on enforcement wherever you can.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SPEC-DRIVEN DEVELOPMENT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The spec is the target.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Code is the build output.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6400800" y="2514600"/>
            <a:ext cx="5120280" cy="712800"/>
          </a:xfrm>
          <a:prstGeom prst="roundRect">
            <a:avLst>
              <a:gd name="adj" fmla="val 1025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6400800" y="2514600"/>
            <a:ext cx="63720" cy="7128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675120" y="25603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product.md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6675120" y="288036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what the whole app is, and why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6400800" y="3337560"/>
            <a:ext cx="5120280" cy="712800"/>
          </a:xfrm>
          <a:prstGeom prst="roundRect">
            <a:avLst>
              <a:gd name="adj" fmla="val 1025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6400800" y="3337560"/>
            <a:ext cx="63720" cy="7128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675120" y="338328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tech.md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6675120" y="37033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the stack, structure, and patterns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6400800" y="4160520"/>
            <a:ext cx="5120280" cy="712800"/>
          </a:xfrm>
          <a:prstGeom prst="roundRect">
            <a:avLst>
              <a:gd name="adj" fmla="val 1025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6400800" y="4160520"/>
            <a:ext cx="63720" cy="7128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6675120" y="420624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constitution.md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6675120" y="45262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the non-negotiable rules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6400800" y="4983480"/>
            <a:ext cx="5120280" cy="712800"/>
          </a:xfrm>
          <a:prstGeom prst="roundRect">
            <a:avLst>
              <a:gd name="adj" fmla="val 1025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>
            <a:off x="6400800" y="4983480"/>
            <a:ext cx="63720" cy="71280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6675120" y="502920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features/NNN/spec.md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6675120" y="53492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what one feature does, in detail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6400800" y="5806440"/>
            <a:ext cx="5120280" cy="712800"/>
          </a:xfrm>
          <a:prstGeom prst="roundRect">
            <a:avLst>
              <a:gd name="adj" fmla="val 1025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0"/>
          <p:cNvSpPr/>
          <p:nvPr/>
        </p:nvSpPr>
        <p:spPr>
          <a:xfrm>
            <a:off x="6400800" y="5806440"/>
            <a:ext cx="63720" cy="712800"/>
          </a:xfrm>
          <a:prstGeom prst="roundRect">
            <a:avLst>
              <a:gd name="adj" fmla="val 42857"/>
            </a:avLst>
          </a:prstGeom>
          <a:solidFill>
            <a:srgbClr val="93a1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6675120" y="585216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the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6675120" y="617220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built toward all of the above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THE PROJECT-WIDE LAYER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Three docs hold across every feature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640080" y="2468880"/>
            <a:ext cx="3520080" cy="3108600"/>
          </a:xfrm>
          <a:prstGeom prst="roundRect">
            <a:avLst>
              <a:gd name="adj" fmla="val 235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40080" y="2468880"/>
            <a:ext cx="63720" cy="31086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14400" y="27432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product.md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14400" y="32461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WHAT &amp; WHY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914400" y="3703320"/>
            <a:ext cx="30171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The goal. What the app is, who it's for, where it's headed. Changes slowly.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4343400" y="2468880"/>
            <a:ext cx="3520080" cy="3108600"/>
          </a:xfrm>
          <a:prstGeom prst="roundRect">
            <a:avLst>
              <a:gd name="adj" fmla="val 235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4343400" y="2468880"/>
            <a:ext cx="63720" cy="31086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4617720" y="27432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tech.md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4617720" y="32461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HOW YOU BUILD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4617720" y="3703320"/>
            <a:ext cx="30171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The stack, where files live, and the patterns a new feature should match.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8046720" y="2468880"/>
            <a:ext cx="3520080" cy="3108600"/>
          </a:xfrm>
          <a:prstGeom prst="roundRect">
            <a:avLst>
              <a:gd name="adj" fmla="val 235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8046720" y="2468880"/>
            <a:ext cx="63720" cy="31086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8321040" y="27432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constitution.md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8321040" y="32461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THE RULES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8321040" y="3703320"/>
            <a:ext cx="30171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The short list of non-negotiables. The agent treats these as hard constraints.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THE PER-FEATURE LAYER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One folder per feature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640080" y="2468880"/>
            <a:ext cx="5257440" cy="2468520"/>
          </a:xfrm>
          <a:prstGeom prst="roundRect">
            <a:avLst>
              <a:gd name="adj" fmla="val 296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640080" y="2468880"/>
            <a:ext cx="63720" cy="246852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26974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001-item-list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14400" y="31546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BUILT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914400" y="3566160"/>
            <a:ext cx="4708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onsolas"/>
                <a:ea typeface="Consolas"/>
              </a:rPr>
              <a:t>spec.md</a:t>
            </a: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   data model, API, behavior, tests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onsolas"/>
                <a:ea typeface="Consolas"/>
              </a:rPr>
              <a:t>plan.md</a:t>
            </a: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   every task checked off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+ matching 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263640" y="2468880"/>
            <a:ext cx="5257440" cy="2468520"/>
          </a:xfrm>
          <a:prstGeom prst="roundRect">
            <a:avLst>
              <a:gd name="adj" fmla="val 2963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6263640" y="2468880"/>
            <a:ext cx="63720" cy="246852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537960" y="26974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002-delete-items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6537960" y="31546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SPECIFIED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6537960" y="3566160"/>
            <a:ext cx="4708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onsolas"/>
                <a:ea typeface="Consolas"/>
              </a:rPr>
              <a:t>spec.md</a:t>
            </a: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   the contract, written and ready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no plan yet</a:t>
            </a: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   ·   no code yet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onsolas"/>
              </a:rPr>
              <a:t>this is what you hand the agent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640080" y="52578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A feature starts as a spec. It gets a plan when you begin work on it.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KEEP IT TRUE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Specs drift.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640080" y="2148840"/>
            <a:ext cx="8686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A spec that no longer matches the code is worse than none at all.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640080" y="3291840"/>
            <a:ext cx="10881000" cy="840960"/>
          </a:xfrm>
          <a:prstGeom prst="roundRect">
            <a:avLst>
              <a:gd name="adj" fmla="val 869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640080" y="3291840"/>
            <a:ext cx="63720" cy="84096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60120" y="329184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Change a decision while coding?  </a:t>
            </a:r>
            <a:r>
              <a:rPr lang="en-US" sz="16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Update the spec right then, not later.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40080" y="4270320"/>
            <a:ext cx="10881000" cy="840960"/>
          </a:xfrm>
          <a:prstGeom prst="roundRect">
            <a:avLst>
              <a:gd name="adj" fmla="val 869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640080" y="4270320"/>
            <a:ext cx="63720" cy="84096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960120" y="427032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Record why  </a:t>
            </a:r>
            <a:r>
              <a:rPr lang="en-US" sz="16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in the feature's decision log. Append, don't erase.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640080" y="5248800"/>
            <a:ext cx="10881000" cy="840960"/>
          </a:xfrm>
          <a:prstGeom prst="roundRect">
            <a:avLst>
              <a:gd name="adj" fmla="val 869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640080" y="5248800"/>
            <a:ext cx="63720" cy="84096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960120" y="5248800"/>
            <a:ext cx="10240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The constitution stays put  </a:t>
            </a:r>
            <a:r>
              <a:rPr lang="en-US" sz="16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it's stable. The spec is what moves.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THE LOOP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How you actually work with it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627840" y="274320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627840" y="2743200"/>
            <a:ext cx="63720" cy="19198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856440" y="29260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856440" y="36118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EXPLORE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856440" y="39776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it reads the files first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3096720" y="2743200"/>
            <a:ext cx="383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3435120" y="274320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3435120" y="2743200"/>
            <a:ext cx="63720" cy="19198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3663720" y="29260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3663720" y="36118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3663720" y="39776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it proposes, you approve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5904000" y="2743200"/>
            <a:ext cx="383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6242040" y="274320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6242040" y="2743200"/>
            <a:ext cx="63720" cy="19198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6470640" y="29260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6470640" y="36118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6470640" y="39776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it builds, you read the diff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8710920" y="2743200"/>
            <a:ext cx="383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9049320" y="274320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9049320" y="2743200"/>
            <a:ext cx="63720" cy="19198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9277920" y="29260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9277920" y="36118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COMMIT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9277920" y="39776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checks pass, then move 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640080" y="52120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Short cycles. Don't let it run unattended for long. It drifts.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64008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AUTOMATE LAST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640080" y="86868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Workflows and skills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640080" y="2468880"/>
            <a:ext cx="5257440" cy="2285640"/>
          </a:xfrm>
          <a:prstGeom prst="roundRect">
            <a:avLst>
              <a:gd name="adj" fmla="val 320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640080" y="2468880"/>
            <a:ext cx="63720" cy="22856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914400" y="26974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WORKFLOW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914400" y="3200400"/>
            <a:ext cx="470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A saved sequence you trigger by name.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914400" y="4023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/spec   /plan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6263640" y="2468880"/>
            <a:ext cx="5257440" cy="2285640"/>
          </a:xfrm>
          <a:prstGeom prst="roundRect">
            <a:avLst>
              <a:gd name="adj" fmla="val 3200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6263640" y="2468880"/>
            <a:ext cx="63720" cy="22856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6537960" y="26974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SKILL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6537960" y="3200400"/>
            <a:ext cx="4708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A capability the agent loads on its own when the task matches.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6537960" y="4023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93a1b0"/>
                </a:solidFill>
                <a:effectLst/>
                <a:uFillTx/>
                <a:latin typeface="Consolas"/>
                <a:ea typeface="Consolas"/>
              </a:rPr>
              <a:t>verify-work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640080" y="50749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You invoke a workflow. A skill invokes itself.   </a:t>
            </a:r>
            <a:r>
              <a:rPr lang="en-US" sz="1700" b="0" i="1" u="none" strike="noStrike">
                <a:solidFill>
                  <a:srgbClr val="93a1b0"/>
                </a:solidFill>
                <a:effectLst/>
                <a:uFillTx/>
                <a:latin typeface="Calibri"/>
                <a:ea typeface="Calibri"/>
              </a:rPr>
              <a:t>Only automate what already works by hand.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1136880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13b49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640080" y="1463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› </a:t>
            </a:r>
            <a:r>
              <a:rPr lang="en-US" sz="1200" b="0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YOUR TURN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640080" y="1828800"/>
            <a:ext cx="10972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Clone the starter.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Fill the gaps. Run the loop.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640080" y="4023360"/>
            <a:ext cx="3565800" cy="639720"/>
          </a:xfrm>
          <a:prstGeom prst="roundRect">
            <a:avLst>
              <a:gd name="adj" fmla="val 1428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77240" y="40233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Write your spec first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4389120" y="4023360"/>
            <a:ext cx="3565800" cy="639720"/>
          </a:xfrm>
          <a:prstGeom prst="roundRect">
            <a:avLst>
              <a:gd name="adj" fmla="val 1428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526280" y="40233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Plan, then let it build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8138160" y="4023360"/>
            <a:ext cx="3565800" cy="639720"/>
          </a:xfrm>
          <a:prstGeom prst="roundRect">
            <a:avLst>
              <a:gd name="adj" fmla="val 14286"/>
            </a:avLst>
          </a:prstGeom>
          <a:solidFill>
            <a:srgbClr val="232a36"/>
          </a:solidFill>
          <a:ln w="12600">
            <a:solidFill>
              <a:srgbClr val="313b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8275320" y="40233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eef1f5"/>
                </a:solidFill>
                <a:effectLst/>
                <a:uFillTx/>
                <a:latin typeface="Calibri"/>
                <a:ea typeface="Calibri"/>
              </a:rPr>
              <a:t>Let the harness catch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640080" y="52120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git clone … &amp;&amp; npm install &amp;&amp; npm test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LibreOffice/25.8.4.2$MacOSX_AARCH64 LibreOffice_project/290daaa01b999472f0c7a3890eb6a550fd74c6df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2026-06-11T18:13:12Z</dcterms:created>
  <dc:creator>PptxGenJS</dc:creator>
  <dc:description/>
  <dc:language>en-US</dc:language>
  <cp:lastModifiedBy/>
  <dcterms:modified xsi:type="dcterms:W3CDTF">2026-06-11T11:30:14Z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