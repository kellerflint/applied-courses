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48132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FB5A6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1463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FB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APPLIED AI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2057400"/>
            <a:ext cx="80101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Coding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66928" y="3310128"/>
            <a:ext cx="72786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framework for working with coding agents: when to hand off, how much to lean, and how to verify.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4173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FB5A6"/>
          </a:solidFill>
          <a:ln/>
        </p:spPr>
      </p:sp>
      <p:sp>
        <p:nvSpPr>
          <p:cNvPr id="3" name="Text 1"/>
          <p:cNvSpPr/>
          <p:nvPr/>
        </p:nvSpPr>
        <p:spPr>
          <a:xfrm>
            <a:off x="1024128" y="1371600"/>
            <a:ext cx="7552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FB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WARM-UP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1874520"/>
            <a:ext cx="8010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 Your Games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66928" y="3063240"/>
            <a:ext cx="6912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notes from your vibe coding session before we build the framework.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66928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Coding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919472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· Share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B8A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THIS WORKS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8010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41A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format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Coding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919472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· Share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1828800"/>
            <a:ext cx="80101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70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of 3–4.</a:t>
            </a:r>
            <a:endParaRPr lang="en-US" sz="1700" dirty="0"/>
          </a:p>
          <a:p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70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minutes total,  </a:t>
            </a:r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700" dirty="0">
                <a:solidFill>
                  <a:srgbClr val="23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5 minutes each. Watch the clock and pass the turn.</a:t>
            </a:r>
            <a:endParaRPr lang="en-US" sz="1700" dirty="0"/>
          </a:p>
          <a:p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70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your game.  </a:t>
            </a:r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700" dirty="0">
                <a:solidFill>
                  <a:srgbClr val="23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it around or share your screen so people actually play it.</a:t>
            </a:r>
            <a:endParaRPr lang="en-US" sz="1700" dirty="0"/>
          </a:p>
          <a:p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70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answer the three questions  </a:t>
            </a:r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700" dirty="0">
                <a:solidFill>
                  <a:srgbClr val="23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loud, and open it to the group.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4A02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41A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DISCUSS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143000"/>
            <a:ext cx="8010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 for your own project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2103120"/>
            <a:ext cx="773582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or worse than you expected? Where did the agent land against your prediction?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well, and what went badly? Name the specific capabilities and limits.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try, and what would you do differently to direct it better?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66928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Coding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919472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· Share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4A02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41A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DISCUSS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143000"/>
            <a:ext cx="8010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your group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2103120"/>
            <a:ext cx="773582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you go, watch for overlap across very different games.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same kinds of tasks go smoothly for everyone?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one capability and one limit that showed up in more than one project.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66928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Coding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919472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· Share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4173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FB5A6"/>
          </a:solidFill>
          <a:ln/>
        </p:spPr>
      </p:sp>
      <p:sp>
        <p:nvSpPr>
          <p:cNvPr id="3" name="Text 1"/>
          <p:cNvSpPr/>
          <p:nvPr/>
        </p:nvSpPr>
        <p:spPr>
          <a:xfrm>
            <a:off x="1024128" y="1371600"/>
            <a:ext cx="7552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FB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FRAMEWORK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1874520"/>
            <a:ext cx="8010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Framing AI Coding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66928" y="3063240"/>
            <a:ext cx="6912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current read on a fast-moving tool. The patterns here should hold for at least the next few years.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66928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Coding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919472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· Framing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B8A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8010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41A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“AI coding” means here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Coding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919472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· Framing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1828800"/>
            <a:ext cx="80101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65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coding specifically.  </a:t>
            </a:r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650" dirty="0">
                <a:solidFill>
                  <a:srgbClr val="23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direct an agent that builds real software at whatever scale, guiding it the whole way.</a:t>
            </a:r>
            <a:endParaRPr lang="en-US" sz="1650" dirty="0"/>
          </a:p>
          <a:p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65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tools:  </a:t>
            </a:r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650" dirty="0">
                <a:solidFill>
                  <a:srgbClr val="23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Code, Antigravity, Copilot.</a:t>
            </a:r>
            <a:endParaRPr lang="en-US" sz="1650" dirty="0"/>
          </a:p>
          <a:p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65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same as  </a:t>
            </a:r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650" dirty="0">
                <a:solidFill>
                  <a:srgbClr val="23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AI like a search engine or copy-pasting into ChatGPT. The interesting question is when the agent writes and changes the software while you direct.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B8A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DEBATE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8010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41A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Both purists are wrong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Coding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919472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· Framing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828800"/>
            <a:ext cx="3904488" cy="2331720"/>
          </a:xfrm>
          <a:prstGeom prst="roundRect">
            <a:avLst>
              <a:gd name="adj" fmla="val 3922"/>
            </a:avLst>
          </a:prstGeom>
          <a:solidFill>
            <a:srgbClr val="F2F5F7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066544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0B8A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LEAVES VALUE BEHIND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3392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A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pure-manual purist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3392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3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Refuses to let AI touch anything. There is almost certainly somewhere it would add real value, and they're leaving it on the table.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690872" y="1828800"/>
            <a:ext cx="3904488" cy="2331720"/>
          </a:xfrm>
          <a:prstGeom prst="roundRect">
            <a:avLst>
              <a:gd name="adj" fmla="val 3922"/>
            </a:avLst>
          </a:prstGeom>
          <a:solidFill>
            <a:srgbClr val="F2F5F7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46904" y="2066544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F4A0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HASN'T SHIPPED AT SCALE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946904" y="2377440"/>
            <a:ext cx="3392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A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pure-agentic believer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46904" y="2834640"/>
            <a:ext cx="3392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3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Says no human direction is needed and expertise is irrelevant. Anyone claiming that hasn't built anything at real scale.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66928" y="4315968"/>
            <a:ext cx="8010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truth lives in between. The skill is reading where a task sits and deciding how to work with the agent on it.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B8A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MAP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8010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41A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three layers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Coding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919472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· Framing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874520"/>
            <a:ext cx="2496312" cy="2286000"/>
          </a:xfrm>
          <a:prstGeom prst="roundRect">
            <a:avLst>
              <a:gd name="adj" fmla="val 4000"/>
            </a:avLst>
          </a:prstGeom>
          <a:solidFill>
            <a:srgbClr val="F2F5F7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112264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0B8A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198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41A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Suitability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2971800"/>
            <a:ext cx="19842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3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task a good fit for an agent at all?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3342132" y="1874520"/>
            <a:ext cx="2496312" cy="2286000"/>
          </a:xfrm>
          <a:prstGeom prst="roundRect">
            <a:avLst>
              <a:gd name="adj" fmla="val 4000"/>
            </a:avLst>
          </a:prstGeom>
          <a:solidFill>
            <a:srgbClr val="F2F5F7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98164" y="2112264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0B8A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598164" y="2423160"/>
            <a:ext cx="198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41A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Usage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98164" y="2971800"/>
            <a:ext cx="19842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3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do you lean on the agent?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117336" y="1874520"/>
            <a:ext cx="2496312" cy="2286000"/>
          </a:xfrm>
          <a:prstGeom prst="roundRect">
            <a:avLst>
              <a:gd name="adj" fmla="val 4000"/>
            </a:avLst>
          </a:prstGeom>
          <a:solidFill>
            <a:srgbClr val="F2F5F7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73368" y="2112264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0B8A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73368" y="2423160"/>
            <a:ext cx="198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41A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Verification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73368" y="2971800"/>
            <a:ext cx="19842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3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confirm the output actually works?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4173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FB5A6"/>
          </a:solidFill>
          <a:ln/>
        </p:spPr>
      </p:sp>
      <p:sp>
        <p:nvSpPr>
          <p:cNvPr id="3" name="Text 1"/>
          <p:cNvSpPr/>
          <p:nvPr/>
        </p:nvSpPr>
        <p:spPr>
          <a:xfrm>
            <a:off x="1024128" y="1371600"/>
            <a:ext cx="7552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FB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1874520"/>
            <a:ext cx="8010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Suitability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66928" y="3063240"/>
            <a:ext cx="6912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task a good fit for an agent? Read it against three preconditions.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66928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Coding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919472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· Suitability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B8A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 PRECONDITIONS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8010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41A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Scope, complexity, novelty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Coding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919472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· Suitability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2496312" cy="2148840"/>
          </a:xfrm>
          <a:prstGeom prst="roundRect">
            <a:avLst>
              <a:gd name="adj" fmla="val 4255"/>
            </a:avLst>
          </a:prstGeom>
          <a:solidFill>
            <a:srgbClr val="F2F5F7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020824"/>
            <a:ext cx="198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41A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2569464"/>
            <a:ext cx="198424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3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big the task is. Files, features, moving parts.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42132" y="1783080"/>
            <a:ext cx="2496312" cy="2148840"/>
          </a:xfrm>
          <a:prstGeom prst="roundRect">
            <a:avLst>
              <a:gd name="adj" fmla="val 4255"/>
            </a:avLst>
          </a:prstGeom>
          <a:solidFill>
            <a:srgbClr val="F2F5F7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98164" y="2020824"/>
            <a:ext cx="198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41A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Complexity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598164" y="2569464"/>
            <a:ext cx="198424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3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hard the logic is. Involved algorithms, subtle state, edge cases.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17336" y="1783080"/>
            <a:ext cx="2496312" cy="2148840"/>
          </a:xfrm>
          <a:prstGeom prst="roundRect">
            <a:avLst>
              <a:gd name="adj" fmla="val 4255"/>
            </a:avLst>
          </a:prstGeom>
          <a:solidFill>
            <a:srgbClr val="F2F5F7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73368" y="2020824"/>
            <a:ext cx="198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41A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Novelty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373368" y="2569464"/>
            <a:ext cx="198424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3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unusual it is. How little public code looks like it.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" y="4114800"/>
            <a:ext cx="8010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on all three = better suited.  </a:t>
            </a:r>
            <a:pPr algn="ctr" indent="0" marL="0">
              <a:buNone/>
            </a:pPr>
            <a:r>
              <a:rPr lang="en-US" sz="1500" dirty="0">
                <a:solidFill>
                  <a:srgbClr val="6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on all three is where it fails most.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B8A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TRADE-OFFS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8010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41A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They trade off against each other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Coding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919472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· Suitability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1828800"/>
            <a:ext cx="80101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65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scope is fine  </a:t>
            </a:r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650" dirty="0">
                <a:solidFill>
                  <a:srgbClr val="23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novelty and complexity stay low. Routine, familiar work an agent can grind through.</a:t>
            </a:r>
            <a:endParaRPr lang="en-US" sz="1650" dirty="0"/>
          </a:p>
          <a:p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65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complexity can work  </a:t>
            </a:r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650" dirty="0">
                <a:solidFill>
                  <a:srgbClr val="23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thinking agent, as long as scope and novelty stay low.</a:t>
            </a:r>
            <a:endParaRPr lang="en-US" sz="1650" dirty="0"/>
          </a:p>
          <a:p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65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on all three at once  </a:t>
            </a:r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650" dirty="0">
                <a:solidFill>
                  <a:srgbClr val="23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where it flounders. Big, intricate, and unfamiliar is the danger zone.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4A02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41A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DISCUSS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143000"/>
            <a:ext cx="8010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your partner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2103120"/>
            <a:ext cx="773582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a quick task. Rate it low, medium, or high on scope, complexity, and novelty.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guess: would it be a good fit for an agent, or not?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66928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Coding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919472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· Suitability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B8A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INTERACTIVE ACTIVITY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8010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41A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Suitability mixer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8010144" cy="2331720"/>
          </a:xfrm>
          <a:prstGeom prst="roundRect">
            <a:avLst>
              <a:gd name="adj" fmla="val 4706"/>
            </a:avLst>
          </a:prstGeom>
          <a:solidFill>
            <a:srgbClr val="ECF8F6"/>
          </a:solidFill>
          <a:ln w="22225">
            <a:solidFill>
              <a:srgbClr val="0FB5A6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66928" y="2377440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0B8A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INTERACTIVE DEMO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81328" y="2880360"/>
            <a:ext cx="6181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6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sliders (scope, complexity, novelty) blend a green-to-red verdict. Open the live activity in the browser.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66928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Coding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919472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· Suitability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4A02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41A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DISCUSS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143000"/>
            <a:ext cx="8010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your partner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2103120"/>
            <a:ext cx="773582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project you've worked on recently and rate it on the mixer.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it fall? Do you agree or disagree with the verdict?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66928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Coding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919472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· Suitability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B8A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THE GRADIENT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8010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41A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There's no clean line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Coding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919472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· Suitability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1828800"/>
            <a:ext cx="80101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65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gradient, not pass/fail.  </a:t>
            </a:r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650" dirty="0">
                <a:solidFill>
                  <a:srgbClr val="23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boundary where a task flips from “agent” to “no agent.”</a:t>
            </a:r>
            <a:endParaRPr lang="en-US" sz="1650" dirty="0"/>
          </a:p>
          <a:p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65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Impressive stories deserve a second look.  </a:t>
            </a:r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650" dirty="0">
                <a:solidFill>
                  <a:srgbClr val="23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AI found a security bug” usually means a human aimed it at a narrow, well-defined target.</a:t>
            </a:r>
            <a:endParaRPr lang="en-US" sz="1650" dirty="0"/>
          </a:p>
          <a:p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65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 “go do a thing”  </a:t>
            </a:r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650" dirty="0">
                <a:solidFill>
                  <a:srgbClr val="23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tends to give much worse results.</a:t>
            </a:r>
            <a:endParaRPr lang="en-US" sz="1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B8A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MOVE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8010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41A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a task is high on all three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Coding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919472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· Suitability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1874520"/>
            <a:ext cx="8010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8A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 it into chunks.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2560320"/>
            <a:ext cx="75529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3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piece becomes lower-scope, lower-complexity, and lower-novelty than the whole. A scary project turns into a series of tasks that each sit lower on the gradient, and you hold more control across all of them.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4173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FB5A6"/>
          </a:solidFill>
          <a:ln/>
        </p:spPr>
      </p:sp>
      <p:sp>
        <p:nvSpPr>
          <p:cNvPr id="3" name="Text 1"/>
          <p:cNvSpPr/>
          <p:nvPr/>
        </p:nvSpPr>
        <p:spPr>
          <a:xfrm>
            <a:off x="1024128" y="1371600"/>
            <a:ext cx="7552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FB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1874520"/>
            <a:ext cx="8010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Usage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66928" y="3063240"/>
            <a:ext cx="6912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task is a reasonable fit: how much do you lean on the agent?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66928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Coding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919472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· Usage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B8A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TRADE-OFF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8010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41A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Convenience vs. control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Coding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919472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· Usage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828800"/>
            <a:ext cx="3904488" cy="2331720"/>
          </a:xfrm>
          <a:prstGeom prst="roundRect">
            <a:avLst>
              <a:gd name="adj" fmla="val 3922"/>
            </a:avLst>
          </a:prstGeom>
          <a:solidFill>
            <a:srgbClr val="F2F5F7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066544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F4A0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 &amp; EASY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3392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41A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Convenience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22960" y="2926080"/>
            <a:ext cx="33924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3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upside of agentic mode. If the code can essentially write itself while you do something else, that's genuinely valuable.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690872" y="1828800"/>
            <a:ext cx="3904488" cy="2331720"/>
          </a:xfrm>
          <a:prstGeom prst="roundRect">
            <a:avLst>
              <a:gd name="adj" fmla="val 3922"/>
            </a:avLst>
          </a:prstGeom>
          <a:solidFill>
            <a:srgbClr val="F2F5F7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46904" y="2066544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0B8A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DELIBERATE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946904" y="2377440"/>
            <a:ext cx="3392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41A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946904" y="2926080"/>
            <a:ext cx="33924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3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specify more, decompose more, and review more. Better understanding of the code and tighter alignment with your vision.</a:t>
            </a:r>
            <a:endParaRPr lang="en-US" sz="1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B8A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CONVENIENCE SHINES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8010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41A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Lean convenient when the stakes are low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Coding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919472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· Usage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1828800"/>
            <a:ext cx="801014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65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 </a:t>
            </a:r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650" dirty="0">
                <a:solidFill>
                  <a:srgbClr val="23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won't grow into something larger.</a:t>
            </a:r>
            <a:endParaRPr lang="en-US" sz="1650" dirty="0"/>
          </a:p>
          <a:p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65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Throwaway,  </a:t>
            </a:r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650" dirty="0">
                <a:solidFill>
                  <a:srgbClr val="23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something you'll maintain or ship.</a:t>
            </a:r>
            <a:endParaRPr lang="en-US" sz="1650" dirty="0"/>
          </a:p>
          <a:p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65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security or user-data stakes,  </a:t>
            </a:r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650" dirty="0">
                <a:solidFill>
                  <a:srgbClr val="23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 bug can't hurt anyone.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66928" y="3977640"/>
            <a:ext cx="8010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all of that is true, the agent's speed is pure upside.</a:t>
            </a:r>
            <a:endParaRPr lang="en-US" sz="14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B8A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ON OR OFF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8010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41A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It's a dial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Coding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919472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· Usage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1874520"/>
            <a:ext cx="75529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3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coding isn't on or off. It's a dial you set per task, anywhere between full convenience and full control.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B8A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INTERACTIVE ACTIVITY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8010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41A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convenience–control dial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8010144" cy="2331720"/>
          </a:xfrm>
          <a:prstGeom prst="roundRect">
            <a:avLst>
              <a:gd name="adj" fmla="val 4706"/>
            </a:avLst>
          </a:prstGeom>
          <a:solidFill>
            <a:srgbClr val="ECF8F6"/>
          </a:solidFill>
          <a:ln w="22225">
            <a:solidFill>
              <a:srgbClr val="0FB5A6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66928" y="2377440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0B8A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INTERACTIVE DEMO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81328" y="2880360"/>
            <a:ext cx="6181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6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from convenience to control and watch the levers (specification, decomposition, review cadence) shift. Open the live activity in the browser.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66928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Coding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919472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· Usage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27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4A02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41A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DISCUSS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143000"/>
            <a:ext cx="8010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your partner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2103120"/>
            <a:ext cx="773582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real task each of you has.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on the dial would you set it, and why?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66928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Coding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919472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· Usage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B8A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WORKED EXAMPLE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8010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41A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305 grading script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Coding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919472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· Usage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1783080"/>
            <a:ext cx="76443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23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every student repo, set each up locally, click through the running project, tear it down, load the next. Dozens of repos, same loop every time.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66928" y="2880360"/>
            <a:ext cx="7644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Handed off completely. </a:t>
            </a:r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23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roughly one-shot it, with a few minor corrections, using libraries I wasn't even familiar with.</a:t>
            </a:r>
            <a:endParaRPr lang="en-US" sz="16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B8A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WORKED EXAMPLE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8010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41A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full convenience was safe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Coding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919472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· Usage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1828800"/>
            <a:ext cx="4709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55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control needed.  </a:t>
            </a:r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550" dirty="0">
                <a:solidFill>
                  <a:srgbClr val="23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convenience, nothing to steer.</a:t>
            </a:r>
            <a:endParaRPr lang="en-US" sz="1550" dirty="0"/>
          </a:p>
          <a:p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55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at risk.  </a:t>
            </a:r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550" dirty="0">
                <a:solidFill>
                  <a:srgbClr val="23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to protect, no security concern.</a:t>
            </a:r>
            <a:endParaRPr lang="en-US" sz="1550" dirty="0"/>
          </a:p>
          <a:p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55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were cheap.  </a:t>
            </a:r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550" dirty="0">
                <a:solidFill>
                  <a:srgbClr val="23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misbehaved, I'd just rerun it.</a:t>
            </a:r>
            <a:endParaRPr lang="en-US" sz="1550" dirty="0"/>
          </a:p>
          <a:p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55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Throwaway.  </a:t>
            </a:r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550" dirty="0">
                <a:solidFill>
                  <a:srgbClr val="23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meant to maintain or expand it.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532120" y="1828800"/>
            <a:ext cx="3044952" cy="2331720"/>
          </a:xfrm>
          <a:prstGeom prst="roundRect">
            <a:avLst>
              <a:gd name="adj" fmla="val 3922"/>
            </a:avLst>
          </a:prstGeom>
          <a:solidFill>
            <a:srgbClr val="141A24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532120" y="2084832"/>
            <a:ext cx="3044952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B5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~10 min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715000" y="3181198"/>
            <a:ext cx="2679192" cy="839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from half a day of research, writing, and debugging the script myself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27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4A02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41A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DISCUSS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143000"/>
            <a:ext cx="8010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your partner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2103120"/>
            <a:ext cx="773582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have to change about this task to make full convenience the wrong call?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one change that would force you to grab back control.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66928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Coding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919472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· Usage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B8A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CONSTANT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8010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41A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never changes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Coding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919472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· Usage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1874520"/>
            <a:ext cx="7552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0B8A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always review the output, carefully, every time.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66928" y="2880360"/>
            <a:ext cx="74615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23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when you've handed everything off, you read what came back. Convenience buys you speed. It does not buy you out of reviewing.</a:t>
            </a:r>
            <a:endParaRPr lang="en-US" sz="16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4173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FB5A6"/>
          </a:solidFill>
          <a:ln/>
        </p:spPr>
      </p:sp>
      <p:sp>
        <p:nvSpPr>
          <p:cNvPr id="3" name="Text 1"/>
          <p:cNvSpPr/>
          <p:nvPr/>
        </p:nvSpPr>
        <p:spPr>
          <a:xfrm>
            <a:off x="1024128" y="1371600"/>
            <a:ext cx="7552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FB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1874520"/>
            <a:ext cx="8010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Verification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66928" y="3063240"/>
            <a:ext cx="6912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burden falls on you. Strong verification is what lets you hand more off.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66928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Coding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919472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· Verification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B8A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IT'S ON YOU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8010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41A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 agent is bad at verifying itself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Coding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919472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· Verification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1783080"/>
            <a:ext cx="801014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60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tools for the full environment.  </a:t>
            </a:r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600" dirty="0">
                <a:solidFill>
                  <a:srgbClr val="23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drive a browser, but those loops are slow and not native to how it thinks.</a:t>
            </a:r>
            <a:endParaRPr lang="en-US" sz="1600" dirty="0"/>
          </a:p>
          <a:p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60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lacks what you have.  </a:t>
            </a:r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600" dirty="0">
                <a:solidFill>
                  <a:srgbClr val="23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sense of your intent, no common sense, no understanding of where the project is headed.</a:t>
            </a:r>
            <a:endParaRPr lang="en-US" sz="1600" dirty="0"/>
          </a:p>
          <a:p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60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insight into whether its code works.  </a:t>
            </a:r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600" dirty="0">
                <a:solidFill>
                  <a:srgbClr val="23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can't see the difference between “it ran” and “it's right.”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B8A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 LEVEL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8010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41A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checking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Coding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919472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· Verification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1828800"/>
            <a:ext cx="80101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65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click through it yourself.  </a:t>
            </a:r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650" dirty="0">
                <a:solidFill>
                  <a:srgbClr val="23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path you expect to work and the paths you expect to fail. Agents build a great demo, then fall apart at the edges.</a:t>
            </a:r>
            <a:endParaRPr lang="en-US" sz="1650" dirty="0"/>
          </a:p>
          <a:p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65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your riskiest functions first.  </a:t>
            </a:r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650" dirty="0">
                <a:solidFill>
                  <a:srgbClr val="23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you don't understand, and the parts you never specified, are where it had the most freedom to go wrong.</a:t>
            </a:r>
            <a:endParaRPr lang="en-US" sz="16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B8A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 LEVEL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8010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41A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Automated testing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Coding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919472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· Verification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1783080"/>
            <a:ext cx="77358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is hugely valuable. </a:t>
            </a:r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3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runs the whole system together, which is exactly what the agent has the least insight into. A unit test checks one function alone; an e2e test checks it does its job inside the running app.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" y="3429000"/>
            <a:ext cx="8010144" cy="868680"/>
          </a:xfrm>
          <a:prstGeom prst="roundRect">
            <a:avLst>
              <a:gd name="adj" fmla="val 10526"/>
            </a:avLst>
          </a:prstGeom>
          <a:solidFill>
            <a:srgbClr val="ECF8F6"/>
          </a:solidFill>
          <a:ln w="15875">
            <a:solidFill>
              <a:srgbClr val="0FB5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3429000"/>
            <a:ext cx="74615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B8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Highest-value recommendation:  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end-to-end tests, and make them genuinely good.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B8A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CATCH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8010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41A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Don't trust the agent to test itself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Coding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919472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· Verification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1737360"/>
            <a:ext cx="801014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55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writes stupid tests.  </a:t>
            </a:r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550" dirty="0">
                <a:solidFill>
                  <a:srgbClr val="23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will claim it did end-to-end testing while the tests check essentially nothing.</a:t>
            </a:r>
            <a:endParaRPr lang="en-US" sz="1550" dirty="0"/>
          </a:p>
          <a:p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55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as good as its suite.  </a:t>
            </a:r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550" dirty="0">
                <a:solidFill>
                  <a:srgbClr val="23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hollow suite makes the green checkmark meaningless.</a:t>
            </a:r>
            <a:endParaRPr lang="en-US" sz="1550" dirty="0"/>
          </a:p>
          <a:p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55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degrades over time.  </a:t>
            </a:r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550" dirty="0">
                <a:solidFill>
                  <a:srgbClr val="23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tests on the first pass don't mean it keeps writing them.</a:t>
            </a:r>
            <a:endParaRPr lang="en-US" sz="1550" dirty="0"/>
          </a:p>
          <a:p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55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Dictate the cases yourself.  </a:t>
            </a:r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550" dirty="0">
                <a:solidFill>
                  <a:srgbClr val="23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it the scenarios and flow, then let it write the test code.</a:t>
            </a:r>
            <a:endParaRPr lang="en-US" sz="15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B8A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OFTEN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8010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41A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 in often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Coding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919472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· Verification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1783080"/>
            <a:ext cx="76443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23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isn't only how you check. It's how often. Don't let the agent spin for long stretches before you look.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66928" y="2880360"/>
            <a:ext cx="3904488" cy="1188720"/>
          </a:xfrm>
          <a:prstGeom prst="roundRect">
            <a:avLst>
              <a:gd name="adj" fmla="val 7692"/>
            </a:avLst>
          </a:prstGeom>
          <a:solidFill>
            <a:srgbClr val="F2F5F7"/>
          </a:solidFill>
          <a:ln w="12700">
            <a:solidFill>
              <a:srgbClr val="E3E8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880360"/>
            <a:ext cx="33924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8A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~15 min
</a:t>
            </a:r>
            <a:endParaRPr lang="en-US" sz="2600" dirty="0"/>
          </a:p>
          <a:p>
            <a:pPr indent="0" marL="0">
              <a:buNone/>
            </a:pPr>
            <a:r>
              <a:rPr lang="en-US" sz="1300" dirty="0">
                <a:solidFill>
                  <a:srgbClr val="6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between check-ins, for most projects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690872" y="2880360"/>
            <a:ext cx="39044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23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drift. The less active you are, the more they wander from your intent and a cohesive codebase.</a:t>
            </a:r>
            <a:endParaRPr lang="en-US" sz="14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B8A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GOTCHA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8010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41A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Timeouts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Coding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919472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· Verification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1783080"/>
            <a:ext cx="7644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23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e2e test fails, the agent's reflex is “maybe it needs more time,” and it bumps the timeout to 30, 60, 120 seconds before troubleshooting anything.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66928" y="2971800"/>
            <a:ext cx="76443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aggressive timeouts. </a:t>
            </a:r>
            <a:pPr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23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than ~5 seconds unless something legitimately needs longer. A failed e2e test almost always fails in the first couple seconds. Watch for the agent quietly bumping them back up.</a:t>
            </a:r>
            <a:endParaRPr lang="en-US" sz="16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4173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FB5A6"/>
          </a:solidFill>
          <a:ln/>
        </p:spPr>
      </p:sp>
      <p:sp>
        <p:nvSpPr>
          <p:cNvPr id="3" name="Text 1"/>
          <p:cNvSpPr/>
          <p:nvPr/>
        </p:nvSpPr>
        <p:spPr>
          <a:xfrm>
            <a:off x="1024128" y="1371600"/>
            <a:ext cx="7552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FB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PAIR PROGRAM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1874520"/>
            <a:ext cx="8010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Rebuild With an Agent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66928" y="3063240"/>
            <a:ext cx="6912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three layers to work. Take a project you already know and rebuild it with an agent.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66928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Coding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919472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· Pair Program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B8A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A PROJECT YOU KNOW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8010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41A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Domain knowledge is the point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Coding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919472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· Pair Program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1783080"/>
            <a:ext cx="76443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23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game session was the opposite: an unfamiliar stack, to see raw capability. Here you pick something you understand deeply.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66928" y="2880360"/>
            <a:ext cx="76443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knowledge is what makes you a good director and a good verifier. </a:t>
            </a:r>
            <a:pPr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23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has no insight into your intent or whether its code truly works. You supply both.</a:t>
            </a:r>
            <a:endParaRPr lang="en-US" sz="16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E27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4A02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41A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DISCUSS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143000"/>
            <a:ext cx="8010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your partner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2103120"/>
            <a:ext cx="773582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your project to each other.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part you already know will be tricky, where you'll need to watch the agent closely?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66928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Coding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919472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· Pair Program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B8A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8010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41A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 it out first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Coding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919472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· Pair Program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1664208"/>
            <a:ext cx="7735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6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development: write a clear, detailed spec and hand the agent that target. Cover: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66928" y="2240280"/>
            <a:ext cx="801014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45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tool is.  </a:t>
            </a:r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450" dirty="0">
                <a:solidFill>
                  <a:srgbClr val="23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 on what it does and who it's for.</a:t>
            </a:r>
            <a:endParaRPr lang="en-US" sz="1450" dirty="0"/>
          </a:p>
          <a:p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45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should work.  </a:t>
            </a:r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450" dirty="0">
                <a:solidFill>
                  <a:srgbClr val="23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and main flows. Call out the tricky parts you already know about.</a:t>
            </a:r>
            <a:endParaRPr lang="en-US" sz="1450" dirty="0"/>
          </a:p>
          <a:p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45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stack.  </a:t>
            </a:r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450" dirty="0">
                <a:solidFill>
                  <a:srgbClr val="23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Languages, frameworks, structure. Choose deliberately.</a:t>
            </a:r>
            <a:endParaRPr lang="en-US" sz="1450" dirty="0"/>
          </a:p>
          <a:p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45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should be tested.  </a:t>
            </a:r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450" dirty="0">
                <a:solidFill>
                  <a:srgbClr val="23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suite covers, especially e2e. Name the cases that matter.</a:t>
            </a:r>
            <a:endParaRPr lang="en-US" sz="1450" dirty="0"/>
          </a:p>
          <a:p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45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else that matters.  </a:t>
            </a:r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450" dirty="0">
                <a:solidFill>
                  <a:srgbClr val="23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Constraints, data shapes, things to avoid.</a:t>
            </a:r>
            <a:endParaRPr lang="en-US" sz="14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E27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4A02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41A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DISCUSS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143000"/>
            <a:ext cx="8010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your partner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2103120"/>
            <a:ext cx="773582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specs and poke holes.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it vague enough that the agent could build something you didn't mean? Tighten those spots first.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66928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Coding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919472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· Pair Program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B8A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8010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41A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 the dial to the middle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Coding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919472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· Pair Program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1783080"/>
            <a:ext cx="801014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55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agent write the code, but read it.  </a:t>
            </a:r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550" dirty="0">
                <a:solidFill>
                  <a:srgbClr val="23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files and review, or at least spot check.</a:t>
            </a:r>
            <a:endParaRPr lang="en-US" sz="1550" dirty="0"/>
          </a:p>
          <a:p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55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at the architectural level.  </a:t>
            </a:r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550" dirty="0">
                <a:solidFill>
                  <a:srgbClr val="23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the architect; redirect bad structural choices before they spread.</a:t>
            </a:r>
            <a:endParaRPr lang="en-US" sz="1550" dirty="0"/>
          </a:p>
          <a:p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55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in often.  </a:t>
            </a:r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550" dirty="0">
                <a:solidFill>
                  <a:srgbClr val="23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each chunk before moving on.</a:t>
            </a:r>
            <a:endParaRPr lang="en-US" sz="1550" dirty="0"/>
          </a:p>
          <a:p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55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your domain knowledge.  </a:t>
            </a:r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550" dirty="0">
                <a:solidFill>
                  <a:srgbClr val="23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tell when something is subtly off here. Correct as needed.</a:t>
            </a:r>
            <a:endParaRPr lang="en-US" sz="15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B8A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8010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41A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Verify with automated testing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Coding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919472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· Pair Program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1783080"/>
            <a:ext cx="801014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55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Dictate the test cases yourself.  </a:t>
            </a:r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550" dirty="0">
                <a:solidFill>
                  <a:srgbClr val="23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it the scenarios; let it write the test code.</a:t>
            </a:r>
            <a:endParaRPr lang="en-US" sz="1550" dirty="0"/>
          </a:p>
          <a:p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55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run the tests before “done.”  </a:t>
            </a:r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550" dirty="0">
                <a:solidFill>
                  <a:srgbClr val="23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means the suite actually passes, every time.</a:t>
            </a:r>
            <a:endParaRPr lang="en-US" sz="1550" dirty="0"/>
          </a:p>
          <a:p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55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the tests.  </a:t>
            </a:r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550" dirty="0">
                <a:solidFill>
                  <a:srgbClr val="23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they check something real. It writes hollow tests and degrades.</a:t>
            </a:r>
            <a:endParaRPr lang="en-US" sz="1550" dirty="0"/>
          </a:p>
          <a:p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55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 timeouts, high quality.  </a:t>
            </a:r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550" dirty="0">
                <a:solidFill>
                  <a:srgbClr val="23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 runs” is not the bar. Hold the output to what you know is right.</a:t>
            </a:r>
            <a:endParaRPr lang="en-US" sz="15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B8A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DELIVERABLE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8010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41A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Submit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Coding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919472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· Pair Program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1828800"/>
            <a:ext cx="80101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65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link to your repository.</a:t>
            </a:r>
            <a:endParaRPr lang="en-US" sz="1650" dirty="0"/>
          </a:p>
          <a:p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65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 you wrote  </a:t>
            </a:r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650" dirty="0">
                <a:solidFill>
                  <a:srgbClr val="23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 the README), so we can see the target you set.</a:t>
            </a:r>
            <a:endParaRPr lang="en-US" sz="1650" dirty="0"/>
          </a:p>
          <a:p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650" b="1" dirty="0">
                <a:solidFill>
                  <a:srgbClr val="14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reflection  </a:t>
            </a:r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650" dirty="0">
                <a:solidFill>
                  <a:srgbClr val="23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 the README): how middle-ground control felt vs. the game session, where the agent needed architectural correction, and how well your tests held up.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Coding</dc:title>
  <dc:subject>PptxGenJS Presentation</dc:subject>
  <dc:creator>Applied AI</dc:creator>
  <cp:lastModifiedBy>Applied AI</cp:lastModifiedBy>
  <cp:revision>1</cp:revision>
  <dcterms:created xsi:type="dcterms:W3CDTF">2026-06-09T20:05:26Z</dcterms:created>
  <dcterms:modified xsi:type="dcterms:W3CDTF">2026-06-09T20:05:26Z</dcterms:modified>
</cp:coreProperties>
</file>